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3" r:id="rId9"/>
    <p:sldId id="262" r:id="rId10"/>
    <p:sldId id="265" r:id="rId11"/>
    <p:sldId id="271" r:id="rId12"/>
    <p:sldId id="272" r:id="rId13"/>
    <p:sldId id="270" r:id="rId14"/>
  </p:sldIdLst>
  <p:sldSz cx="121935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7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7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7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012850-FEF6-4CB8-A426-B169EFCCB63F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37E2890E-4B58-4681-B203-37191FC3715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EB9982E4-E51A-46E9-8B25-E4E40FF74887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7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3884760" y="8685360"/>
            <a:ext cx="2964960" cy="45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723600" algn="l"/>
                <a:tab pos="1447560" algn="l"/>
                <a:tab pos="2171520" algn="l"/>
                <a:tab pos="289548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fld id="{54432FC8-3140-437B-B5C0-17229924DF24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Arial Unicode M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7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71978558-ADB5-4A16-B5FA-894A5EE5FFC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7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DE1D46C7-0670-4291-B8C8-D0F073C7607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8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3D5BAC05-7445-45CF-B835-9DFF2BC59843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8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199080" algn="r">
              <a:lnSpc>
                <a:spcPct val="100000"/>
              </a:lnSpc>
              <a:tabLst>
                <a:tab pos="0" algn="l"/>
              </a:tabLst>
            </a:pPr>
            <a:fld id="{7BAA36E4-E6B9-4BDB-8CBE-624639E05FF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9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A66A-D4E9-F6B6-7220-1B1279F6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>
            <a:extLst>
              <a:ext uri="{FF2B5EF4-FFF2-40B4-BE49-F238E27FC236}">
                <a16:creationId xmlns:a16="http://schemas.microsoft.com/office/drawing/2014/main" id="{CB4427C8-0D8E-10A9-6478-67D38DBD1F6A}"/>
              </a:ext>
            </a:extLst>
          </p:cNvPr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199080" algn="r">
              <a:lnSpc>
                <a:spcPct val="100000"/>
              </a:lnSpc>
              <a:tabLst>
                <a:tab pos="0" algn="l"/>
              </a:tabLst>
            </a:pPr>
            <a:fld id="{7BAA36E4-E6B9-4BDB-8CBE-624639E05FF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92" name="PlaceHolder 2">
            <a:extLst>
              <a:ext uri="{FF2B5EF4-FFF2-40B4-BE49-F238E27FC236}">
                <a16:creationId xmlns:a16="http://schemas.microsoft.com/office/drawing/2014/main" id="{AFEF25C0-77C1-BA0D-E1FE-B2F01D0AF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93" name="PlaceHolder 3">
            <a:extLst>
              <a:ext uri="{FF2B5EF4-FFF2-40B4-BE49-F238E27FC236}">
                <a16:creationId xmlns:a16="http://schemas.microsoft.com/office/drawing/2014/main" id="{1A41B524-F8AA-F58C-BF08-D07426A3CA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8140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EE39-CDDC-FD43-7E0D-CF454DE4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>
            <a:extLst>
              <a:ext uri="{FF2B5EF4-FFF2-40B4-BE49-F238E27FC236}">
                <a16:creationId xmlns:a16="http://schemas.microsoft.com/office/drawing/2014/main" id="{90914B82-3816-E89E-2E60-8FEBFF10FD77}"/>
              </a:ext>
            </a:extLst>
          </p:cNvPr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199080" algn="r">
              <a:lnSpc>
                <a:spcPct val="100000"/>
              </a:lnSpc>
              <a:tabLst>
                <a:tab pos="0" algn="l"/>
              </a:tabLst>
            </a:pPr>
            <a:fld id="{7BAA36E4-E6B9-4BDB-8CBE-624639E05FF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92" name="PlaceHolder 2">
            <a:extLst>
              <a:ext uri="{FF2B5EF4-FFF2-40B4-BE49-F238E27FC236}">
                <a16:creationId xmlns:a16="http://schemas.microsoft.com/office/drawing/2014/main" id="{33FB11F0-2EB0-D470-B322-4FBA1B60F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93" name="PlaceHolder 3">
            <a:extLst>
              <a:ext uri="{FF2B5EF4-FFF2-40B4-BE49-F238E27FC236}">
                <a16:creationId xmlns:a16="http://schemas.microsoft.com/office/drawing/2014/main" id="{9655EADA-B363-FED8-B91C-DDB8B38FF5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269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5360"/>
            <a:ext cx="2966040" cy="45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marL="216000" indent="-200520" algn="r">
              <a:lnSpc>
                <a:spcPct val="100000"/>
              </a:lnSpc>
              <a:tabLst>
                <a:tab pos="0" algn="l"/>
              </a:tabLst>
            </a:pPr>
            <a:fld id="{1327D144-ECD1-4D85-B204-DB8EA3803504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0" y="6532560"/>
            <a:ext cx="12165840" cy="286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CustomShape 2"/>
          <p:cNvSpPr/>
          <p:nvPr/>
        </p:nvSpPr>
        <p:spPr>
          <a:xfrm>
            <a:off x="1085760" y="168120"/>
            <a:ext cx="10986120" cy="1326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00"/>
                </a:solidFill>
                <a:latin typeface="Times New Roman"/>
                <a:ea typeface="Times New Roman"/>
              </a:rPr>
              <a:t>Sanjivani Rural Education Society’s</a:t>
            </a:r>
            <a:br/>
            <a:r>
              <a:rPr lang="en-US" sz="1800" b="1" strike="noStrike" spc="-1">
                <a:solidFill>
                  <a:srgbClr val="FFFF00"/>
                </a:solidFill>
                <a:latin typeface="Times New Roman"/>
                <a:ea typeface="Times New Roman"/>
              </a:rPr>
              <a:t>Sanjivani College of Engineering, Kopargaon-423 603 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800" b="1" i="1" strike="noStrike" spc="-1">
                <a:solidFill>
                  <a:srgbClr val="CC00CC"/>
                </a:solidFill>
                <a:latin typeface="Calibri"/>
                <a:ea typeface="Calibri"/>
              </a:rPr>
              <a:t>(An Autonomous Institute, Affiliated to Savitribai Phule Pune University, Pune)</a:t>
            </a:r>
            <a:br/>
            <a:r>
              <a:rPr lang="en-US" sz="1800" b="1" i="1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NACC ‘A’ Grade Accredited, ISO 9001:2015 Certified</a:t>
            </a:r>
            <a:br/>
            <a:endParaRPr lang="en-US" sz="1800" b="0" strike="noStrike" spc="-1">
              <a:latin typeface="Arial"/>
            </a:endParaRPr>
          </a:p>
        </p:txBody>
      </p:sp>
      <p:pic>
        <p:nvPicPr>
          <p:cNvPr id="2" name="Google Shape;22;p15"/>
          <p:cNvPicPr/>
          <p:nvPr/>
        </p:nvPicPr>
        <p:blipFill>
          <a:blip r:embed="rId14"/>
          <a:stretch/>
        </p:blipFill>
        <p:spPr>
          <a:xfrm>
            <a:off x="0" y="74520"/>
            <a:ext cx="1083240" cy="1221480"/>
          </a:xfrm>
          <a:prstGeom prst="rect">
            <a:avLst/>
          </a:prstGeom>
          <a:ln>
            <a:noFill/>
          </a:ln>
        </p:spPr>
      </p:pic>
      <p:sp>
        <p:nvSpPr>
          <p:cNvPr id="3" name="CustomShape 3"/>
          <p:cNvSpPr/>
          <p:nvPr/>
        </p:nvSpPr>
        <p:spPr>
          <a:xfrm>
            <a:off x="36360" y="1563840"/>
            <a:ext cx="12152880" cy="63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Calibri"/>
              </a:rPr>
              <a:t>Department of Computer Engineering</a:t>
            </a:r>
            <a:br/>
            <a:r>
              <a:rPr lang="en-US" sz="1200" b="1" i="1" strike="noStrike" spc="-1">
                <a:solidFill>
                  <a:srgbClr val="FFFFFF"/>
                </a:solidFill>
                <a:latin typeface="Calibri"/>
                <a:ea typeface="Calibri"/>
              </a:rPr>
              <a:t>(NBA Accredited)</a:t>
            </a:r>
            <a:br/>
            <a:br/>
            <a:br/>
            <a:endParaRPr lang="en-US" sz="1200" b="0" strike="noStrike" spc="-1">
              <a:latin typeface="Arial"/>
            </a:endParaRPr>
          </a:p>
        </p:txBody>
      </p:sp>
      <p:sp>
        <p:nvSpPr>
          <p:cNvPr id="4" name="CustomShape 4"/>
          <p:cNvSpPr/>
          <p:nvPr/>
        </p:nvSpPr>
        <p:spPr>
          <a:xfrm>
            <a:off x="36360" y="6437160"/>
            <a:ext cx="12071880" cy="2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15840" y="6600960"/>
            <a:ext cx="12129120" cy="213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44" name="Google Shape;38;p17"/>
          <p:cNvPicPr/>
          <p:nvPr/>
        </p:nvPicPr>
        <p:blipFill>
          <a:blip r:embed="rId14"/>
          <a:stretch/>
        </p:blipFill>
        <p:spPr>
          <a:xfrm>
            <a:off x="0" y="57240"/>
            <a:ext cx="984960" cy="946800"/>
          </a:xfrm>
          <a:prstGeom prst="rect">
            <a:avLst/>
          </a:prstGeom>
          <a:ln>
            <a:noFill/>
          </a:ln>
        </p:spPr>
      </p:pic>
      <p:sp>
        <p:nvSpPr>
          <p:cNvPr id="45" name="CustomShape 2"/>
          <p:cNvSpPr/>
          <p:nvPr/>
        </p:nvSpPr>
        <p:spPr>
          <a:xfrm>
            <a:off x="352440" y="1052640"/>
            <a:ext cx="11665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6" name="CustomShape 3"/>
          <p:cNvSpPr/>
          <p:nvPr/>
        </p:nvSpPr>
        <p:spPr>
          <a:xfrm>
            <a:off x="0" y="6473880"/>
            <a:ext cx="12189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15840" y="6600960"/>
            <a:ext cx="12129120" cy="213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6" name="Google Shape;52;p19"/>
          <p:cNvPicPr/>
          <p:nvPr/>
        </p:nvPicPr>
        <p:blipFill>
          <a:blip r:embed="rId14"/>
          <a:stretch/>
        </p:blipFill>
        <p:spPr>
          <a:xfrm>
            <a:off x="0" y="57240"/>
            <a:ext cx="984960" cy="946800"/>
          </a:xfrm>
          <a:prstGeom prst="rect">
            <a:avLst/>
          </a:prstGeom>
          <a:ln>
            <a:noFill/>
          </a:ln>
        </p:spPr>
      </p:pic>
      <p:sp>
        <p:nvSpPr>
          <p:cNvPr id="87" name="CustomShape 2"/>
          <p:cNvSpPr/>
          <p:nvPr/>
        </p:nvSpPr>
        <p:spPr>
          <a:xfrm>
            <a:off x="352440" y="1052640"/>
            <a:ext cx="11665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8" name="CustomShape 3"/>
          <p:cNvSpPr/>
          <p:nvPr/>
        </p:nvSpPr>
        <p:spPr>
          <a:xfrm>
            <a:off x="0" y="6473880"/>
            <a:ext cx="12189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 cap="sq">
            <a:solidFill>
              <a:srgbClr val="00206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E782D-4FC0-40B2-DC89-A477F9BCD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012" y="1606427"/>
            <a:ext cx="3315163" cy="562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BA1AA2-DFC5-E930-C053-353FAEBD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092" y="1582347"/>
            <a:ext cx="3315163" cy="5620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EBA29-DB56-A673-1905-67D8245552D6}"/>
              </a:ext>
            </a:extLst>
          </p:cNvPr>
          <p:cNvSpPr txBox="1"/>
          <p:nvPr/>
        </p:nvSpPr>
        <p:spPr>
          <a:xfrm>
            <a:off x="3701951" y="1682735"/>
            <a:ext cx="6174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Department Of Information technology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18F39-42F2-8364-AEFB-F834EDF81D0C}"/>
              </a:ext>
            </a:extLst>
          </p:cNvPr>
          <p:cNvSpPr txBox="1"/>
          <p:nvPr/>
        </p:nvSpPr>
        <p:spPr>
          <a:xfrm>
            <a:off x="2434236" y="2221855"/>
            <a:ext cx="8439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strike="noStrike" spc="-1" dirty="0">
                <a:solidFill>
                  <a:srgbClr val="0000CC"/>
                </a:solidFill>
                <a:latin typeface="Times New Roman"/>
                <a:ea typeface="Times New Roman"/>
              </a:rPr>
              <a:t>Course:- Software </a:t>
            </a:r>
            <a:r>
              <a:rPr lang="en-IN" sz="2800" b="0" strike="noStrike" spc="-1" dirty="0">
                <a:solidFill>
                  <a:srgbClr val="0000CC"/>
                </a:solidFill>
                <a:latin typeface="Times New Roman"/>
                <a:ea typeface="Times New Roman"/>
              </a:rPr>
              <a:t>Engineering Modeling ﻿ &amp; Design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A3487-08B9-48B3-42F6-06149683982F}"/>
              </a:ext>
            </a:extLst>
          </p:cNvPr>
          <p:cNvSpPr txBox="1"/>
          <p:nvPr/>
        </p:nvSpPr>
        <p:spPr>
          <a:xfrm>
            <a:off x="8311673" y="5111320"/>
            <a:ext cx="4267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0" strike="noStrike" spc="-1" dirty="0">
                <a:solidFill>
                  <a:srgbClr val="0000CC"/>
                </a:solidFill>
                <a:latin typeface="Times New Roman"/>
                <a:ea typeface="Times New Roman"/>
              </a:rPr>
              <a:t>Guided By :</a:t>
            </a:r>
          </a:p>
          <a:p>
            <a:r>
              <a:rPr lang="en-IN" sz="2800" spc="-1" dirty="0">
                <a:latin typeface="Times New Roman"/>
                <a:ea typeface="Times New Roman"/>
              </a:rPr>
              <a:t>         Prof  </a:t>
            </a:r>
            <a:r>
              <a:rPr lang="en-IN" sz="2800" spc="-1" dirty="0" err="1">
                <a:latin typeface="Times New Roman"/>
                <a:ea typeface="Times New Roman"/>
              </a:rPr>
              <a:t>P.G.Thakre</a:t>
            </a:r>
            <a:r>
              <a:rPr lang="en-IN" sz="2800" b="0" strike="noStrike" spc="-1" dirty="0">
                <a:latin typeface="Times New Roman"/>
                <a:ea typeface="Times New Roman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2B264-C7BB-545C-35F0-902FA8208551}"/>
              </a:ext>
            </a:extLst>
          </p:cNvPr>
          <p:cNvSpPr txBox="1"/>
          <p:nvPr/>
        </p:nvSpPr>
        <p:spPr>
          <a:xfrm>
            <a:off x="3701951" y="2780005"/>
            <a:ext cx="5985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 : Hostel Mess Management System</a:t>
            </a:r>
            <a:endParaRPr lang="en-I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E190D-BAE8-9E0D-EE0B-9E83FC1D8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038052"/>
              </p:ext>
            </p:extLst>
          </p:nvPr>
        </p:nvGraphicFramePr>
        <p:xfrm>
          <a:off x="181430" y="3455566"/>
          <a:ext cx="8599014" cy="28240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66338">
                  <a:extLst>
                    <a:ext uri="{9D8B030D-6E8A-4147-A177-3AD203B41FA5}">
                      <a16:colId xmlns:a16="http://schemas.microsoft.com/office/drawing/2014/main" val="4021932102"/>
                    </a:ext>
                  </a:extLst>
                </a:gridCol>
                <a:gridCol w="2866338">
                  <a:extLst>
                    <a:ext uri="{9D8B030D-6E8A-4147-A177-3AD203B41FA5}">
                      <a16:colId xmlns:a16="http://schemas.microsoft.com/office/drawing/2014/main" val="311908398"/>
                    </a:ext>
                  </a:extLst>
                </a:gridCol>
                <a:gridCol w="2866338">
                  <a:extLst>
                    <a:ext uri="{9D8B030D-6E8A-4147-A177-3AD203B41FA5}">
                      <a16:colId xmlns:a16="http://schemas.microsoft.com/office/drawing/2014/main" val="220207659"/>
                    </a:ext>
                  </a:extLst>
                </a:gridCol>
              </a:tblGrid>
              <a:tr h="564809">
                <a:tc>
                  <a:txBody>
                    <a:bodyPr/>
                    <a:lstStyle/>
                    <a:p>
                      <a:r>
                        <a:rPr lang="en-IN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PRN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550120"/>
                  </a:ext>
                </a:extLst>
              </a:tr>
              <a:tr h="564809">
                <a:tc>
                  <a:txBody>
                    <a:bodyPr/>
                    <a:lstStyle/>
                    <a:p>
                      <a:r>
                        <a:rPr lang="en-IN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0124UITM1026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Giri Aryan Ganesh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45627"/>
                  </a:ext>
                </a:extLst>
              </a:tr>
              <a:tr h="564809"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0124UITM1034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Rajput Suraj Sandeepsigh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237708"/>
                  </a:ext>
                </a:extLst>
              </a:tr>
              <a:tr h="564809">
                <a:tc>
                  <a:txBody>
                    <a:bodyPr/>
                    <a:lstStyle/>
                    <a:p>
                      <a:r>
                        <a:rPr lang="en-IN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0124UITF1043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Walke Apeksha Sandip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650278"/>
                  </a:ext>
                </a:extLst>
              </a:tr>
              <a:tr h="564809">
                <a:tc>
                  <a:txBody>
                    <a:bodyPr/>
                    <a:lstStyle/>
                    <a:p>
                      <a:r>
                        <a:rPr lang="en-IN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0124UITF1044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Khoje Sarika Dadasaheb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5922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020600" y="0"/>
            <a:ext cx="10833840" cy="87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Introduction </a:t>
            </a:r>
            <a:r>
              <a:rPr lang="en-US" sz="3200" spc="-1" dirty="0">
                <a:solidFill>
                  <a:srgbClr val="000000"/>
                </a:solidFill>
                <a:latin typeface="Times New Roman"/>
                <a:ea typeface="Times New Roman"/>
              </a:rPr>
              <a:t>&amp; Objectives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792000" y="165564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83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184" name="CustomShape 5"/>
          <p:cNvSpPr/>
          <p:nvPr/>
        </p:nvSpPr>
        <p:spPr>
          <a:xfrm>
            <a:off x="849240" y="1338120"/>
            <a:ext cx="10943280" cy="119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85" name="CustomShape 6"/>
          <p:cNvSpPr/>
          <p:nvPr/>
        </p:nvSpPr>
        <p:spPr>
          <a:xfrm>
            <a:off x="1554120" y="4389480"/>
            <a:ext cx="8866800" cy="91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P</a:t>
            </a:r>
            <a:r>
              <a:rPr lang="en-US" sz="1800" b="0" strike="noStrike" spc="-1" dirty="0">
                <a:solidFill>
                  <a:srgbClr val="FFFFFF"/>
                </a:solidFill>
                <a:latin typeface="Times New Roman"/>
                <a:ea typeface="Times New Roman"/>
              </a:rPr>
              <a:t>rerequisite Course: Computer Organization and Architecture, Operating System and Administration, Data Structures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86" name="CustomShape 7"/>
          <p:cNvSpPr/>
          <p:nvPr/>
        </p:nvSpPr>
        <p:spPr>
          <a:xfrm>
            <a:off x="365040" y="1279440"/>
            <a:ext cx="11519640" cy="5756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en-US" sz="2000" dirty="0"/>
              <a:t>In many hospitals, management is still handled manually, which leads to issues such as inaccurate patient records, delays in service, improper billing, and difficulty in handling a large number of patients.</a:t>
            </a:r>
          </a:p>
          <a:p>
            <a:r>
              <a:rPr lang="en-US" sz="2000" dirty="0"/>
              <a:t>Our system aims to overcome these problems by providing a digital platform for managing patient registration, appointment scheduling, treatment records, and payment processing.</a:t>
            </a:r>
          </a:p>
          <a:p>
            <a:endParaRPr lang="en-US" sz="2000" dirty="0"/>
          </a:p>
          <a:p>
            <a:r>
              <a:rPr lang="en-IN" sz="2000" b="1" dirty="0"/>
              <a:t>Objectives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08080" indent="-20556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134F7B2-1A33-E392-C2E9-F29C6CEB8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63" y="3335176"/>
            <a:ext cx="9572174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hospital management processes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paperwork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an easy appointment booking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patient and billing records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overall management efficiency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3"/>
          <p:cNvSpPr/>
          <p:nvPr/>
        </p:nvSpPr>
        <p:spPr>
          <a:xfrm>
            <a:off x="259920" y="268200"/>
            <a:ext cx="11323800" cy="1152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29D4305E-3EC3-F061-446F-3C7712B97919}"/>
              </a:ext>
            </a:extLst>
          </p:cNvPr>
          <p:cNvSpPr/>
          <p:nvPr/>
        </p:nvSpPr>
        <p:spPr>
          <a:xfrm>
            <a:off x="1020600" y="0"/>
            <a:ext cx="10833840" cy="87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600" dirty="0"/>
              <a:t>Use Case Diagram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6BEB9-6330-5BA6-2EFD-F3B73CF2B069}"/>
              </a:ext>
            </a:extLst>
          </p:cNvPr>
          <p:cNvSpPr txBox="1"/>
          <p:nvPr/>
        </p:nvSpPr>
        <p:spPr>
          <a:xfrm>
            <a:off x="259920" y="1219705"/>
            <a:ext cx="683511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A Use Case Diagram is a UML diagram that shows how different users (</a:t>
            </a:r>
            <a:r>
              <a:rPr lang="en-IN" b="1" dirty="0"/>
              <a:t>actors</a:t>
            </a:r>
            <a:r>
              <a:rPr lang="en-IN" dirty="0"/>
              <a:t>) interact with a system to perform specific tasks (</a:t>
            </a:r>
            <a:r>
              <a:rPr lang="en-IN" b="1" dirty="0"/>
              <a:t>use cases</a:t>
            </a:r>
            <a:r>
              <a:rPr lang="en-IN" dirty="0"/>
              <a:t>).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Main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Actor:</a:t>
            </a:r>
            <a:r>
              <a:rPr lang="en-IN" dirty="0"/>
              <a:t> User of the system (Patient, Doctor, Pharmacist, Accountant)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 Case:</a:t>
            </a:r>
            <a:r>
              <a:rPr lang="en-IN" dirty="0"/>
              <a:t> Function of system (</a:t>
            </a:r>
            <a:r>
              <a:rPr lang="en-IN" dirty="0" err="1"/>
              <a:t>Registatrion</a:t>
            </a:r>
            <a:r>
              <a:rPr lang="en-IN" dirty="0"/>
              <a:t>, Appointment, Treatment, Medical, Payment)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System Boundary:</a:t>
            </a:r>
            <a:r>
              <a:rPr lang="en-IN" dirty="0"/>
              <a:t> Defines system scope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Association:</a:t>
            </a:r>
            <a:r>
              <a:rPr lang="en-IN" dirty="0"/>
              <a:t> Connection between actor &amp; use case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Common Notations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👤 Stick figure → Actor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⭕ Oval → Use Case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▭ Rectangle → System Boundary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─ Line → Association 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16988-6061-4EF3-ECA2-2BCC81428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14" t="16603" r="14355" b="10363"/>
          <a:stretch>
            <a:fillRect/>
          </a:stretch>
        </p:blipFill>
        <p:spPr>
          <a:xfrm>
            <a:off x="6912261" y="1688760"/>
            <a:ext cx="5021407" cy="4150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1020600" y="0"/>
            <a:ext cx="10833840" cy="87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200" dirty="0"/>
              <a:t>Activity Diagram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98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199" name="CustomShape 5"/>
          <p:cNvSpPr/>
          <p:nvPr/>
        </p:nvSpPr>
        <p:spPr>
          <a:xfrm>
            <a:off x="849240" y="1338120"/>
            <a:ext cx="10943280" cy="119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00" name="CustomShape 6"/>
          <p:cNvSpPr/>
          <p:nvPr/>
        </p:nvSpPr>
        <p:spPr>
          <a:xfrm>
            <a:off x="1554120" y="4389480"/>
            <a:ext cx="8866800" cy="91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Calibri"/>
              </a:rPr>
              <a:t>P</a:t>
            </a:r>
            <a:r>
              <a:rPr lang="en-US" sz="1800" b="0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rerequisite Course: Computer Organization and Architecture, Operating System and Administration, Data Structures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8FA4A-2C2A-386E-B12B-CB1D338089F3}"/>
              </a:ext>
            </a:extLst>
          </p:cNvPr>
          <p:cNvSpPr txBox="1"/>
          <p:nvPr/>
        </p:nvSpPr>
        <p:spPr>
          <a:xfrm>
            <a:off x="382204" y="1338120"/>
            <a:ext cx="61577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An Activity Diagram shows the </a:t>
            </a:r>
            <a:r>
              <a:rPr lang="en-IN" b="1" dirty="0"/>
              <a:t>flow of actions or processes</a:t>
            </a:r>
            <a:r>
              <a:rPr lang="en-IN" dirty="0"/>
              <a:t> in a system from start to end.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Main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Activity (task)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Decision (condition)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Start &amp; 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Flow (sequence of steps)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Common Notations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● Filled Circle → Start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◎ Circle with border → 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▭ Rectangle → Activity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◇ Diamond → Decision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➝ Arrow →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715D9F-7DE9-E6E2-FFB7-1EE08951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284" y="129136"/>
            <a:ext cx="4484156" cy="6728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4" name="CustomShape 2"/>
          <p:cNvSpPr/>
          <p:nvPr/>
        </p:nvSpPr>
        <p:spPr>
          <a:xfrm>
            <a:off x="1006560" y="137160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7" name="CustomShape 5"/>
          <p:cNvSpPr/>
          <p:nvPr/>
        </p:nvSpPr>
        <p:spPr>
          <a:xfrm>
            <a:off x="552600" y="1268280"/>
            <a:ext cx="10719360" cy="422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08" name="CustomShape 6"/>
          <p:cNvSpPr/>
          <p:nvPr/>
        </p:nvSpPr>
        <p:spPr>
          <a:xfrm>
            <a:off x="639720" y="1227240"/>
            <a:ext cx="834300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0" name="CustomShape 7"/>
          <p:cNvSpPr/>
          <p:nvPr/>
        </p:nvSpPr>
        <p:spPr>
          <a:xfrm>
            <a:off x="-193040" y="193400"/>
            <a:ext cx="834300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3200" dirty="0"/>
              <a:t>Class Diagram (Analysis Model)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7" name="Picture 6" descr="The image is a Class Diagram for a Hospital Management System, illustrating the structure of classes, their attributes, methods, and relationships.&#10;&#10;AI-generated content may be incorrect.">
            <a:extLst>
              <a:ext uri="{FF2B5EF4-FFF2-40B4-BE49-F238E27FC236}">
                <a16:creationId xmlns:a16="http://schemas.microsoft.com/office/drawing/2014/main" id="{A0AC30B5-2B48-BBB8-4E69-28C0833A7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21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23" name="CustomShape 4"/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224" name="CustomShape 5"/>
          <p:cNvSpPr/>
          <p:nvPr/>
        </p:nvSpPr>
        <p:spPr>
          <a:xfrm>
            <a:off x="820800" y="1825560"/>
            <a:ext cx="10719360" cy="422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25" name="CustomShape 6"/>
          <p:cNvSpPr/>
          <p:nvPr/>
        </p:nvSpPr>
        <p:spPr>
          <a:xfrm>
            <a:off x="365040" y="1155600"/>
            <a:ext cx="11087640" cy="105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26" name="CustomShape 7"/>
          <p:cNvSpPr/>
          <p:nvPr/>
        </p:nvSpPr>
        <p:spPr>
          <a:xfrm>
            <a:off x="1178460" y="129320"/>
            <a:ext cx="8250840" cy="648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600" dirty="0"/>
              <a:t>State Diagram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227" name="CustomShape 8"/>
          <p:cNvSpPr/>
          <p:nvPr/>
        </p:nvSpPr>
        <p:spPr>
          <a:xfrm>
            <a:off x="471600" y="1096920"/>
            <a:ext cx="11046600" cy="20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08080" indent="-205560" algn="just">
              <a:lnSpc>
                <a:spcPct val="150000"/>
              </a:lnSpc>
              <a:buClr>
                <a:srgbClr val="000000"/>
              </a:buClr>
              <a:buFont typeface="Noto Sans Symbols"/>
              <a:buChar char="⮚"/>
            </a:pPr>
            <a:endParaRPr lang="en-US" sz="2400" b="0" strike="noStrike" spc="-1" dirty="0">
              <a:latin typeface="Arial"/>
            </a:endParaRPr>
          </a:p>
        </p:txBody>
      </p:sp>
      <p:pic>
        <p:nvPicPr>
          <p:cNvPr id="6" name="Picture 5" descr="The image is a visual representation of a State Diagram for a Hospital Management System, detailing the various states of a patient's journey through the system, including registration, consultation, treatment, and discharge, along with transitions and events such as tests needed, treatments prescribed, and payments done.&#10;&#10;AI-generated content may be incorrect.">
            <a:extLst>
              <a:ext uri="{FF2B5EF4-FFF2-40B4-BE49-F238E27FC236}">
                <a16:creationId xmlns:a16="http://schemas.microsoft.com/office/drawing/2014/main" id="{2B12B69C-D97E-1B76-B935-6A13AD7D9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2"/>
          <p:cNvSpPr/>
          <p:nvPr/>
        </p:nvSpPr>
        <p:spPr>
          <a:xfrm>
            <a:off x="1189080" y="244440"/>
            <a:ext cx="718884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dirty="0"/>
              <a:t>Sequence Diagram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4540B-9D6F-E23B-557A-1A0FD10E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6" y="1148565"/>
            <a:ext cx="11458936" cy="5243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64182B-5FAE-AEBF-2929-47466A2A3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28" t="30040" r="22085" b="9075"/>
          <a:stretch>
            <a:fillRect/>
          </a:stretch>
        </p:blipFill>
        <p:spPr>
          <a:xfrm>
            <a:off x="5551113" y="1148565"/>
            <a:ext cx="6484469" cy="5031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8" name="CustomShape 2"/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1" name="CustomShape 5"/>
          <p:cNvSpPr/>
          <p:nvPr/>
        </p:nvSpPr>
        <p:spPr>
          <a:xfrm>
            <a:off x="820800" y="1825560"/>
            <a:ext cx="10719360" cy="422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2" name="CustomShape 6"/>
          <p:cNvSpPr/>
          <p:nvPr/>
        </p:nvSpPr>
        <p:spPr>
          <a:xfrm>
            <a:off x="479520" y="1197000"/>
            <a:ext cx="11087640" cy="64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43" name="CustomShape 7"/>
          <p:cNvSpPr/>
          <p:nvPr/>
        </p:nvSpPr>
        <p:spPr>
          <a:xfrm>
            <a:off x="1488960" y="189000"/>
            <a:ext cx="532512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0CF0E114-8BE9-F8EB-5209-4A03AC39F09A}"/>
              </a:ext>
            </a:extLst>
          </p:cNvPr>
          <p:cNvSpPr/>
          <p:nvPr/>
        </p:nvSpPr>
        <p:spPr>
          <a:xfrm>
            <a:off x="1189080" y="244440"/>
            <a:ext cx="718884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dirty="0"/>
              <a:t>Component Diagram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CB3F5-435A-8C84-92BC-3EA617BED73F}"/>
              </a:ext>
            </a:extLst>
          </p:cNvPr>
          <p:cNvSpPr txBox="1"/>
          <p:nvPr/>
        </p:nvSpPr>
        <p:spPr>
          <a:xfrm>
            <a:off x="286480" y="1414640"/>
            <a:ext cx="60533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A Component Diagram shows the </a:t>
            </a:r>
            <a:r>
              <a:rPr lang="en-IN" b="1" dirty="0"/>
              <a:t>structure of a system</a:t>
            </a:r>
            <a:r>
              <a:rPr lang="en-IN" dirty="0"/>
              <a:t> by representing its components and their relationships.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Main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Components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Interfaces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Dependencies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Common Notations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▭ Rectangle with tabs → Component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◯ Lollipop → Provided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⊂ Socket → Required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➝ Arrow → Dependency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0BA0586-CC7D-44DA-BF77-55C970A6C7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341084" cy="234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44A41-8019-2E99-6BCD-948F29A04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81" y="189000"/>
            <a:ext cx="6013108" cy="6230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99CE-D52C-892D-2E17-20ED4602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>
            <a:extLst>
              <a:ext uri="{FF2B5EF4-FFF2-40B4-BE49-F238E27FC236}">
                <a16:creationId xmlns:a16="http://schemas.microsoft.com/office/drawing/2014/main" id="{A956A0B5-FC6D-4BC5-4548-E98B9BD7AC2E}"/>
              </a:ext>
            </a:extLst>
          </p:cNvPr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8" name="CustomShape 2">
            <a:extLst>
              <a:ext uri="{FF2B5EF4-FFF2-40B4-BE49-F238E27FC236}">
                <a16:creationId xmlns:a16="http://schemas.microsoft.com/office/drawing/2014/main" id="{1F135476-A355-9ACF-B631-E608B543CE9A}"/>
              </a:ext>
            </a:extLst>
          </p:cNvPr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0" name="CustomShape 4">
            <a:extLst>
              <a:ext uri="{FF2B5EF4-FFF2-40B4-BE49-F238E27FC236}">
                <a16:creationId xmlns:a16="http://schemas.microsoft.com/office/drawing/2014/main" id="{837A845D-D4F6-0336-25C5-3B831895C4CA}"/>
              </a:ext>
            </a:extLst>
          </p:cNvPr>
          <p:cNvSpPr/>
          <p:nvPr/>
        </p:nvSpPr>
        <p:spPr>
          <a:xfrm>
            <a:off x="9767880" y="6537240"/>
            <a:ext cx="1583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241" name="CustomShape 5">
            <a:extLst>
              <a:ext uri="{FF2B5EF4-FFF2-40B4-BE49-F238E27FC236}">
                <a16:creationId xmlns:a16="http://schemas.microsoft.com/office/drawing/2014/main" id="{57CDFED5-19D5-D746-D126-C9689BCC50C4}"/>
              </a:ext>
            </a:extLst>
          </p:cNvPr>
          <p:cNvSpPr/>
          <p:nvPr/>
        </p:nvSpPr>
        <p:spPr>
          <a:xfrm>
            <a:off x="820800" y="1825560"/>
            <a:ext cx="10719360" cy="422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2" name="CustomShape 6">
            <a:extLst>
              <a:ext uri="{FF2B5EF4-FFF2-40B4-BE49-F238E27FC236}">
                <a16:creationId xmlns:a16="http://schemas.microsoft.com/office/drawing/2014/main" id="{9D8816CF-BE91-197F-0B65-56AC795FD9BB}"/>
              </a:ext>
            </a:extLst>
          </p:cNvPr>
          <p:cNvSpPr/>
          <p:nvPr/>
        </p:nvSpPr>
        <p:spPr>
          <a:xfrm>
            <a:off x="479520" y="1197000"/>
            <a:ext cx="11087640" cy="64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43" name="CustomShape 7">
            <a:extLst>
              <a:ext uri="{FF2B5EF4-FFF2-40B4-BE49-F238E27FC236}">
                <a16:creationId xmlns:a16="http://schemas.microsoft.com/office/drawing/2014/main" id="{F75B9E98-33D5-860F-2EC4-BD8DE60D9C72}"/>
              </a:ext>
            </a:extLst>
          </p:cNvPr>
          <p:cNvSpPr/>
          <p:nvPr/>
        </p:nvSpPr>
        <p:spPr>
          <a:xfrm>
            <a:off x="1488960" y="189000"/>
            <a:ext cx="532512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C65B8822-28B0-745B-3393-4A0B786FD492}"/>
              </a:ext>
            </a:extLst>
          </p:cNvPr>
          <p:cNvSpPr/>
          <p:nvPr/>
        </p:nvSpPr>
        <p:spPr>
          <a:xfrm>
            <a:off x="1189080" y="244440"/>
            <a:ext cx="718884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dirty="0"/>
              <a:t>Deployment Diagram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AE9C0-DF89-E254-802C-EF7A66FD8EA8}"/>
              </a:ext>
            </a:extLst>
          </p:cNvPr>
          <p:cNvSpPr txBox="1"/>
          <p:nvPr/>
        </p:nvSpPr>
        <p:spPr>
          <a:xfrm>
            <a:off x="22484" y="1306040"/>
            <a:ext cx="57585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Definition</a:t>
            </a:r>
          </a:p>
          <a:p>
            <a:r>
              <a:rPr lang="en-IN" dirty="0"/>
              <a:t>A Deployment Diagram shows the </a:t>
            </a:r>
            <a:r>
              <a:rPr lang="en-IN" b="1" dirty="0"/>
              <a:t>physical arrangement of hardware and software</a:t>
            </a:r>
            <a:r>
              <a:rPr lang="en-IN" dirty="0"/>
              <a:t> in a system.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Main Elements</a:t>
            </a:r>
          </a:p>
          <a:p>
            <a:r>
              <a:rPr lang="en-IN" dirty="0"/>
              <a:t>Nodes (devices/servers) </a:t>
            </a:r>
          </a:p>
          <a:p>
            <a:r>
              <a:rPr lang="en-IN" dirty="0"/>
              <a:t>Artifacts (software) </a:t>
            </a:r>
          </a:p>
          <a:p>
            <a:r>
              <a:rPr lang="en-IN" dirty="0"/>
              <a:t>Communication paths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Common Notations</a:t>
            </a:r>
          </a:p>
          <a:p>
            <a:r>
              <a:rPr lang="en-IN" dirty="0"/>
              <a:t>▭ 3D Box → Node </a:t>
            </a:r>
          </a:p>
          <a:p>
            <a:r>
              <a:rPr lang="en-IN" dirty="0"/>
              <a:t>📦 Rectangle → Artifact </a:t>
            </a:r>
          </a:p>
          <a:p>
            <a:r>
              <a:rPr lang="en-IN" dirty="0"/>
              <a:t>➝ Line → Communication Link </a:t>
            </a:r>
          </a:p>
          <a:p>
            <a:r>
              <a:rPr lang="en-IN" dirty="0"/>
              <a:t>«device» / «server» → Node type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E8DD73-FDC4-FB0C-2A5A-1EB3E0E16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16" y="285307"/>
            <a:ext cx="6390064" cy="607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3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98CC-C9DC-99CF-F14C-3E5B993D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>
            <a:extLst>
              <a:ext uri="{FF2B5EF4-FFF2-40B4-BE49-F238E27FC236}">
                <a16:creationId xmlns:a16="http://schemas.microsoft.com/office/drawing/2014/main" id="{13D0BBA7-9F5D-9F37-F1E9-7E0FFEF912D3}"/>
              </a:ext>
            </a:extLst>
          </p:cNvPr>
          <p:cNvSpPr/>
          <p:nvPr/>
        </p:nvSpPr>
        <p:spPr>
          <a:xfrm>
            <a:off x="1020600" y="247680"/>
            <a:ext cx="10513080" cy="69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8" name="CustomShape 2">
            <a:extLst>
              <a:ext uri="{FF2B5EF4-FFF2-40B4-BE49-F238E27FC236}">
                <a16:creationId xmlns:a16="http://schemas.microsoft.com/office/drawing/2014/main" id="{7DD126FA-4BF3-085D-3A53-7DC4C4B88432}"/>
              </a:ext>
            </a:extLst>
          </p:cNvPr>
          <p:cNvSpPr/>
          <p:nvPr/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1" name="CustomShape 5">
            <a:extLst>
              <a:ext uri="{FF2B5EF4-FFF2-40B4-BE49-F238E27FC236}">
                <a16:creationId xmlns:a16="http://schemas.microsoft.com/office/drawing/2014/main" id="{B0C5919C-BE4B-4A5F-7F53-2560A8E2C156}"/>
              </a:ext>
            </a:extLst>
          </p:cNvPr>
          <p:cNvSpPr/>
          <p:nvPr/>
        </p:nvSpPr>
        <p:spPr>
          <a:xfrm>
            <a:off x="820800" y="1825560"/>
            <a:ext cx="10719360" cy="422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2" name="CustomShape 6">
            <a:extLst>
              <a:ext uri="{FF2B5EF4-FFF2-40B4-BE49-F238E27FC236}">
                <a16:creationId xmlns:a16="http://schemas.microsoft.com/office/drawing/2014/main" id="{B486AFC2-FEB5-0F95-13E9-70F7D4113F60}"/>
              </a:ext>
            </a:extLst>
          </p:cNvPr>
          <p:cNvSpPr/>
          <p:nvPr/>
        </p:nvSpPr>
        <p:spPr>
          <a:xfrm>
            <a:off x="479520" y="1197000"/>
            <a:ext cx="11087640" cy="64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43" name="CustomShape 7">
            <a:extLst>
              <a:ext uri="{FF2B5EF4-FFF2-40B4-BE49-F238E27FC236}">
                <a16:creationId xmlns:a16="http://schemas.microsoft.com/office/drawing/2014/main" id="{D4C2FB30-C94F-E449-9F50-92E0376F29A2}"/>
              </a:ext>
            </a:extLst>
          </p:cNvPr>
          <p:cNvSpPr/>
          <p:nvPr/>
        </p:nvSpPr>
        <p:spPr>
          <a:xfrm>
            <a:off x="1488960" y="189000"/>
            <a:ext cx="532512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F0993620-C377-7CAC-B54E-B74548B3C4FE}"/>
              </a:ext>
            </a:extLst>
          </p:cNvPr>
          <p:cNvSpPr/>
          <p:nvPr/>
        </p:nvSpPr>
        <p:spPr>
          <a:xfrm>
            <a:off x="1189080" y="244440"/>
            <a:ext cx="7188840" cy="75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b="0" strike="noStrike" spc="-1" dirty="0">
                <a:latin typeface="Arial"/>
              </a:rPr>
              <a:t>Conclusion &amp; References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CBC20-4779-72C9-7FDB-C0629A2BDDBF}"/>
              </a:ext>
            </a:extLst>
          </p:cNvPr>
          <p:cNvSpPr txBox="1"/>
          <p:nvPr/>
        </p:nvSpPr>
        <p:spPr>
          <a:xfrm>
            <a:off x="479520" y="1336897"/>
            <a:ext cx="91805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Hospital Management System</a:t>
            </a:r>
            <a:r>
              <a:rPr lang="en-US" dirty="0"/>
              <a:t> provides a smart and efficient solution for managing hospital activities.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Automates patient registration, appointments, billing, and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manual errors and paperwork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transparency and coordination between departments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overall experience for patients and hospital staff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References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UML Diagrams – Software Engineering Notes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Software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UML Distilled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Draw.io (diagrams.net) tool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Classroom notes &amp; study material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69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4C0370-5412-358A-C2A0-13F784EEAC75}"/>
              </a:ext>
            </a:extLst>
          </p:cNvPr>
          <p:cNvSpPr txBox="1"/>
          <p:nvPr/>
        </p:nvSpPr>
        <p:spPr>
          <a:xfrm>
            <a:off x="2434236" y="2221855"/>
            <a:ext cx="8439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b="0" strike="noStrike" spc="-1" dirty="0">
                <a:solidFill>
                  <a:srgbClr val="0000CC"/>
                </a:solidFill>
                <a:latin typeface="Times New Roman"/>
                <a:ea typeface="Times New Roman"/>
              </a:rPr>
              <a:t>Thank </a:t>
            </a:r>
          </a:p>
          <a:p>
            <a:r>
              <a:rPr lang="en-IN" sz="9600" spc="-1" dirty="0">
                <a:solidFill>
                  <a:srgbClr val="0000CC"/>
                </a:solidFill>
                <a:latin typeface="Times New Roman"/>
              </a:rPr>
              <a:t>              You</a:t>
            </a:r>
            <a:endParaRPr lang="en-IN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549</Words>
  <Application>Microsoft Office PowerPoint</Application>
  <PresentationFormat>Custom</PresentationFormat>
  <Paragraphs>130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Noto Sans Symbols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computer</dc:creator>
  <dc:description/>
  <cp:lastModifiedBy>suraj rajput</cp:lastModifiedBy>
  <cp:revision>19</cp:revision>
  <dcterms:created xsi:type="dcterms:W3CDTF">2019-01-31T08:48:16Z</dcterms:created>
  <dcterms:modified xsi:type="dcterms:W3CDTF">2026-04-23T17:15:07Z</dcterms:modified>
  <dc:language>en-US</dc:language>
</cp:coreProperties>
</file>